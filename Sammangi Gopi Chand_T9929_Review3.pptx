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Rag Based Technical Knowledge, Maintenance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And Safety Support for power distribution employees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member: 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Sammangi Gopi Chand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latin typeface="Calibri"/>
              </a:rPr>
              <a:t>TID: T9929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latin typeface="Calibri"/>
              </a:rPr>
              <a:t>College: Vellore Institute of Technology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D28273-AD06-D792-E2D3-A53A440D9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93" y="5852667"/>
            <a:ext cx="2263779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9188" y="958492"/>
            <a:ext cx="6400800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Utility teams depend on technical, regulatory and safety guidance spread across documents.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application indexes the supplied corpus and retrieves relevant passages for employee questions.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Gemini drafts answers from retrieved context, shows source filenames and flags evidence gaps.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Employees create source-referenced work checklists and record step completion.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514662" y="380201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514662" y="958492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  <p:pic>
        <p:nvPicPr>
          <p:cNvPr id="6" name="Review infographic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88" y="1424686"/>
            <a:ext cx="457200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1692" y="1038578"/>
            <a:ext cx="10624338" cy="4142989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Build a searchable knowledge base from supplied utility documents.</a:t>
            </a:r>
            <a:endParaRPr lang="en-US" sz="2400" b="0" dirty="0">
              <a:solidFill>
                <a:srgbClr val="5583D1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Retrieve relevant passages to support employee questions with source traceability.</a:t>
            </a:r>
            <a:endParaRPr lang="en-US" sz="2400" b="0" dirty="0">
              <a:solidFill>
                <a:srgbClr val="5583D1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Generate concise answers only from retrieved context and identify information gaps.</a:t>
            </a:r>
            <a:endParaRPr lang="en-US" sz="2400" b="0" dirty="0">
              <a:solidFill>
                <a:srgbClr val="5583D1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Create ordered work-process checklists with supported prerequisites, safety notes and references.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Let employees record progress and administrators review employee activity and refresh the index.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829" y="1234637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Employee portal: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knowledge assistant, saved checklists and step completion tracking.</a:t>
            </a:r>
          </a:p>
          <a:p>
            <a:pPr marL="0" indent="0"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Document pipeline: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PDF, DOCX, TXT and CSV extraction, chunking, embeddings and indexing.</a:t>
            </a:r>
          </a:p>
          <a:p>
            <a:pPr marL="0" indent="0">
              <a:buNone/>
            </a:pPr>
            <a:endParaRPr lang="en-US" sz="2400" dirty="0">
              <a:solidFill>
                <a:srgbClr val="5583D1"/>
              </a:solidFill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RAG assistant: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similarity search, context-grounded answers and source filenames.</a:t>
            </a:r>
          </a:p>
          <a:p>
            <a:pPr marL="0" indent="0">
              <a:buNone/>
            </a:pPr>
            <a:endParaRPr lang="en-US" sz="2400" dirty="0">
              <a:solidFill>
                <a:srgbClr val="5583D1"/>
              </a:solidFill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Work-process generator: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ordered worksheets with source references for every step.</a:t>
            </a:r>
          </a:p>
          <a:p>
            <a:pPr marL="0" indent="0">
              <a:buNone/>
            </a:pPr>
            <a:endParaRPr lang="en-US" sz="2400" dirty="0">
              <a:solidFill>
                <a:srgbClr val="5583D1"/>
              </a:solidFill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Admin portal: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employee overview, account controls and background re-indexing.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Application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Utility guidance is distributed across multiple technical and safety documents.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Finding the relevant passage manually can slow access to work instructions.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Answers and generated procedures need traceable sources and must not fill document gaps with guesses.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Work-step completion also needs a persistent record for employees and an administrative overview.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550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>
                <a:solidFill>
                  <a:srgbClr val="5583D1"/>
                </a:solidFill>
                <a:latin typeface="Calibri"/>
              </a:rPr>
              <a:t>Utility documents are indexed, retrieved as context, and used for source-backed answers and tracked checklists.</a:t>
            </a:r>
          </a:p>
        </p:txBody>
      </p:sp>
      <p:sp>
        <p:nvSpPr>
          <p:cNvPr id="20" name="Methodology Stage 20"/>
          <p:cNvSpPr/>
          <p:nvPr/>
        </p:nvSpPr>
        <p:spPr>
          <a:xfrm>
            <a:off x="285000" y="2100000"/>
            <a:ext cx="1950000" cy="2580000"/>
          </a:xfrm>
          <a:prstGeom prst="roundRect">
            <a:avLst/>
          </a:prstGeom>
          <a:solidFill>
            <a:srgbClr val="EEF4FC"/>
          </a:solidFill>
          <a:ln w="19050">
            <a:solidFill>
              <a:srgbClr val="4472C4"/>
            </a:solidFill>
          </a:ln>
        </p:spPr>
        <p:txBody>
          <a:bodyPr wrap="square" lIns="115000" tIns="100000" rIns="115000" bIns="100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>
                <a:solidFill>
                  <a:srgbClr val="24476B"/>
                </a:solidFill>
                <a:latin typeface="Calibri"/>
              </a:rPr>
              <a:t>Load sources</a:t>
            </a:r>
          </a:p>
          <a:p>
            <a:pPr algn="ctr">
              <a:lnSpc>
                <a:spcPct val="110000"/>
              </a:lnSpc>
            </a:pPr>
            <a:r>
              <a:rPr lang="en-US" sz="1400">
                <a:solidFill>
                  <a:srgbClr val="315B86"/>
                </a:solidFill>
                <a:latin typeface="Calibri"/>
              </a:rPr>
              <a:t>Read PDF, DOCX, TXT and CSV reference files.</a:t>
            </a:r>
          </a:p>
        </p:txBody>
      </p:sp>
      <p:sp>
        <p:nvSpPr>
          <p:cNvPr id="30" name="Flow arrow 30"/>
          <p:cNvSpPr txBox="1"/>
          <p:nvPr/>
        </p:nvSpPr>
        <p:spPr>
          <a:xfrm>
            <a:off x="2235000" y="2100000"/>
            <a:ext cx="390000" cy="25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2600" b="1">
                <a:solidFill>
                  <a:srgbClr val="4472C4"/>
                </a:solidFill>
                <a:latin typeface="Calibri"/>
              </a:rPr>
              <a:t>→</a:t>
            </a:r>
          </a:p>
        </p:txBody>
      </p:sp>
      <p:sp>
        <p:nvSpPr>
          <p:cNvPr id="21" name="Methodology Stage 21"/>
          <p:cNvSpPr/>
          <p:nvPr/>
        </p:nvSpPr>
        <p:spPr>
          <a:xfrm>
            <a:off x="2625000" y="2100000"/>
            <a:ext cx="1950000" cy="2580000"/>
          </a:xfrm>
          <a:prstGeom prst="roundRect">
            <a:avLst/>
          </a:prstGeom>
          <a:solidFill>
            <a:srgbClr val="EEF4FC"/>
          </a:solidFill>
          <a:ln w="19050">
            <a:solidFill>
              <a:srgbClr val="4472C4"/>
            </a:solidFill>
          </a:ln>
        </p:spPr>
        <p:txBody>
          <a:bodyPr wrap="square" lIns="115000" tIns="100000" rIns="115000" bIns="100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>
                <a:solidFill>
                  <a:srgbClr val="24476B"/>
                </a:solidFill>
                <a:latin typeface="Calibri"/>
              </a:rPr>
              <a:t>Prepare text</a:t>
            </a:r>
          </a:p>
          <a:p>
            <a:pPr algn="ctr">
              <a:lnSpc>
                <a:spcPct val="110000"/>
              </a:lnSpc>
            </a:pPr>
            <a:r>
              <a:rPr lang="en-US" sz="1400">
                <a:solidFill>
                  <a:srgbClr val="315B86"/>
                </a:solidFill>
                <a:latin typeface="Calibri"/>
              </a:rPr>
              <a:t>Extract text and split into 300-word chunks with 50-word overlap.</a:t>
            </a:r>
          </a:p>
        </p:txBody>
      </p:sp>
      <p:sp>
        <p:nvSpPr>
          <p:cNvPr id="31" name="Flow arrow 31"/>
          <p:cNvSpPr txBox="1"/>
          <p:nvPr/>
        </p:nvSpPr>
        <p:spPr>
          <a:xfrm>
            <a:off x="4575000" y="2100000"/>
            <a:ext cx="390000" cy="25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2600" b="1">
                <a:solidFill>
                  <a:srgbClr val="4472C4"/>
                </a:solidFill>
                <a:latin typeface="Calibri"/>
              </a:rPr>
              <a:t>→</a:t>
            </a:r>
          </a:p>
        </p:txBody>
      </p:sp>
      <p:sp>
        <p:nvSpPr>
          <p:cNvPr id="22" name="Methodology Stage 22"/>
          <p:cNvSpPr/>
          <p:nvPr/>
        </p:nvSpPr>
        <p:spPr>
          <a:xfrm>
            <a:off x="4965000" y="2100000"/>
            <a:ext cx="1950000" cy="2580000"/>
          </a:xfrm>
          <a:prstGeom prst="roundRect">
            <a:avLst/>
          </a:prstGeom>
          <a:solidFill>
            <a:srgbClr val="EEF4FC"/>
          </a:solidFill>
          <a:ln w="19050">
            <a:solidFill>
              <a:srgbClr val="4472C4"/>
            </a:solidFill>
          </a:ln>
        </p:spPr>
        <p:txBody>
          <a:bodyPr wrap="square" lIns="115000" tIns="100000" rIns="115000" bIns="100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>
                <a:solidFill>
                  <a:srgbClr val="24476B"/>
                </a:solidFill>
                <a:latin typeface="Calibri"/>
              </a:rPr>
              <a:t>Build index</a:t>
            </a:r>
          </a:p>
          <a:p>
            <a:pPr algn="ctr">
              <a:lnSpc>
                <a:spcPct val="110000"/>
              </a:lnSpc>
            </a:pPr>
            <a:r>
              <a:rPr lang="en-US" sz="1400">
                <a:solidFill>
                  <a:srgbClr val="315B86"/>
                </a:solidFill>
                <a:latin typeface="Calibri"/>
              </a:rPr>
              <a:t>Embed with all-MiniLM-L6-v2 and index in FAISS.</a:t>
            </a:r>
          </a:p>
        </p:txBody>
      </p:sp>
      <p:sp>
        <p:nvSpPr>
          <p:cNvPr id="32" name="Flow arrow 32"/>
          <p:cNvSpPr txBox="1"/>
          <p:nvPr/>
        </p:nvSpPr>
        <p:spPr>
          <a:xfrm>
            <a:off x="6915000" y="2100000"/>
            <a:ext cx="390000" cy="25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2600" b="1">
                <a:solidFill>
                  <a:srgbClr val="4472C4"/>
                </a:solidFill>
                <a:latin typeface="Calibri"/>
              </a:rPr>
              <a:t>→</a:t>
            </a:r>
          </a:p>
        </p:txBody>
      </p:sp>
      <p:sp>
        <p:nvSpPr>
          <p:cNvPr id="23" name="Methodology Stage 23"/>
          <p:cNvSpPr/>
          <p:nvPr/>
        </p:nvSpPr>
        <p:spPr>
          <a:xfrm>
            <a:off x="7305000" y="2100000"/>
            <a:ext cx="1950000" cy="2580000"/>
          </a:xfrm>
          <a:prstGeom prst="roundRect">
            <a:avLst/>
          </a:prstGeom>
          <a:solidFill>
            <a:srgbClr val="EEF4FC"/>
          </a:solidFill>
          <a:ln w="19050">
            <a:solidFill>
              <a:srgbClr val="4472C4"/>
            </a:solidFill>
          </a:ln>
        </p:spPr>
        <p:txBody>
          <a:bodyPr wrap="square" lIns="115000" tIns="100000" rIns="115000" bIns="100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>
                <a:solidFill>
                  <a:srgbClr val="24476B"/>
                </a:solidFill>
                <a:latin typeface="Calibri"/>
              </a:rPr>
              <a:t>Retrieve context</a:t>
            </a:r>
          </a:p>
          <a:p>
            <a:pPr algn="ctr">
              <a:lnSpc>
                <a:spcPct val="110000"/>
              </a:lnSpc>
            </a:pPr>
            <a:r>
              <a:rPr lang="en-US" sz="1400">
                <a:solidFill>
                  <a:srgbClr val="315B86"/>
                </a:solidFill>
                <a:latin typeface="Calibri"/>
              </a:rPr>
              <a:t>Q&amp;A uses 5 passages; checklists search 30 and use up to 10.</a:t>
            </a:r>
          </a:p>
        </p:txBody>
      </p:sp>
      <p:sp>
        <p:nvSpPr>
          <p:cNvPr id="33" name="Flow arrow 33"/>
          <p:cNvSpPr txBox="1"/>
          <p:nvPr/>
        </p:nvSpPr>
        <p:spPr>
          <a:xfrm>
            <a:off x="9255000" y="2100000"/>
            <a:ext cx="390000" cy="25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2600" b="1">
                <a:solidFill>
                  <a:srgbClr val="4472C4"/>
                </a:solidFill>
                <a:latin typeface="Calibri"/>
              </a:rPr>
              <a:t>→</a:t>
            </a:r>
          </a:p>
        </p:txBody>
      </p:sp>
      <p:sp>
        <p:nvSpPr>
          <p:cNvPr id="24" name="Methodology Stage 24"/>
          <p:cNvSpPr/>
          <p:nvPr/>
        </p:nvSpPr>
        <p:spPr>
          <a:xfrm>
            <a:off x="9645000" y="2100000"/>
            <a:ext cx="1950000" cy="2580000"/>
          </a:xfrm>
          <a:prstGeom prst="roundRect">
            <a:avLst/>
          </a:prstGeom>
          <a:solidFill>
            <a:srgbClr val="EEF4FC"/>
          </a:solidFill>
          <a:ln w="19050">
            <a:solidFill>
              <a:srgbClr val="4472C4"/>
            </a:solidFill>
          </a:ln>
        </p:spPr>
        <p:txBody>
          <a:bodyPr wrap="square" lIns="115000" tIns="100000" rIns="115000" bIns="100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>
                <a:solidFill>
                  <a:srgbClr val="24476B"/>
                </a:solidFill>
                <a:latin typeface="Calibri"/>
              </a:rPr>
              <a:t>Answer &amp; track</a:t>
            </a:r>
          </a:p>
          <a:p>
            <a:pPr algn="ctr">
              <a:lnSpc>
                <a:spcPct val="110000"/>
              </a:lnSpc>
            </a:pPr>
            <a:r>
              <a:rPr lang="en-US" sz="1400">
                <a:solidFill>
                  <a:srgbClr val="315B86"/>
                </a:solidFill>
                <a:latin typeface="Calibri"/>
              </a:rPr>
              <a:t>Ground Gemini output in sources; save checklist progress.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36518" y="1013965"/>
            <a:ext cx="6400800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Web: </a:t>
            </a:r>
            <a:r>
              <a:rPr lang="en-US" sz="2000" b="0" dirty="0">
                <a:solidFill>
                  <a:schemeClr val="tx1"/>
                </a:solidFill>
                <a:latin typeface="+mn-lt"/>
              </a:rPr>
              <a:t>FastAPI with Jinja2 employee and administrator interfaces.</a:t>
            </a:r>
            <a:endParaRPr lang="en-US" sz="2000" b="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Retrieval: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all-MiniLM-L6-v2 embeddings with FAISS inner-product search.</a:t>
            </a:r>
            <a:endParaRPr lang="en-US" sz="2400" b="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Generation: </a:t>
            </a:r>
            <a:r>
              <a:rPr lang="en-US" sz="2000" b="0" dirty="0">
                <a:solidFill>
                  <a:schemeClr val="tx1"/>
                </a:solidFill>
                <a:latin typeface="+mn-lt"/>
              </a:rPr>
              <a:t>Gemini answers are constrained to retrieved context.</a:t>
            </a:r>
            <a:endParaRPr lang="en-US" sz="2400" b="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Persistence: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SQLAlchemy stores users, checklists, steps and progress.</a:t>
            </a:r>
            <a:endParaRPr lang="en-US" sz="2400" b="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Ingestion: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PDF, DOCX, TXT and CSV; 300-word chunks, 50-word overlap.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Approach, Algorithms and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  <p:pic>
        <p:nvPicPr>
          <p:cNvPr id="6" name="Review infographic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960" y="1777204"/>
            <a:ext cx="457200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809" y="1234637"/>
            <a:ext cx="6400800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Corpus artifact: 3,230 indexed text chunks across 22 source filenames.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Implemented: employee Q&amp;A, referenced checklists, step tracking and administrator re-indexing.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Checklist validation enforces consecutive numbering and a source for every step; evaluation metrics are not reported.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  <p:pic>
        <p:nvPicPr>
          <p:cNvPr id="6" name="Review infographic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389888"/>
            <a:ext cx="457200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858" y="119928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codebase brings document retrieval, grounded employee Q&amp;A and work-process tracking into one application.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Source references and explicit insufficient-information handling support traceability in generated guidance.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bundled index provides a concrete corpus artifact: 3,230 chunks across 22 source filenames.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template identifies the program as jointly offered by </a:t>
            </a:r>
            <a:r>
              <a:rPr lang="en-US" sz="2400" b="0">
                <a:solidFill>
                  <a:srgbClr val="5583D1"/>
                </a:solidFill>
                <a:latin typeface="+mn-lt"/>
              </a:rPr>
              <a:t>the VIT University 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and LTIMindTree.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5878" y="1234637"/>
            <a:ext cx="10624338" cy="4142989"/>
          </a:xfrm>
        </p:spPr>
        <p:txBody>
          <a:bodyPr/>
          <a:lstStyle/>
          <a:p>
            <a:r>
              <a:rPr lang="en-IN" sz="2400" b="0" dirty="0"/>
              <a:t>Lewis, P., Perez, E., </a:t>
            </a:r>
            <a:r>
              <a:rPr lang="en-IN" sz="2400" b="0" dirty="0" err="1"/>
              <a:t>Piktus</a:t>
            </a:r>
            <a:r>
              <a:rPr lang="en-IN" sz="2400" b="0" dirty="0"/>
              <a:t>, A., et al. (2020). “Retrieval-Augmented Generation for Knowledge-Intensive NLP Tasks.” </a:t>
            </a:r>
            <a:r>
              <a:rPr lang="en-IN" sz="2400" b="0" dirty="0" err="1"/>
              <a:t>NeurIPS</a:t>
            </a:r>
            <a:r>
              <a:rPr lang="en-IN" sz="2400" b="0" dirty="0"/>
              <a:t> 2020.</a:t>
            </a:r>
          </a:p>
          <a:p>
            <a:r>
              <a:rPr lang="en-IN" sz="2400" b="0" dirty="0" err="1"/>
              <a:t>Karpukhin</a:t>
            </a:r>
            <a:r>
              <a:rPr lang="en-IN" sz="2400" b="0" dirty="0"/>
              <a:t>, V., Oguz, B., Min, S., et al. (2020). “Dense Passage Retrieval for Open-Domain Question Answering.” EMNLP 2020, pp. 6769–6781.</a:t>
            </a:r>
          </a:p>
          <a:p>
            <a:r>
              <a:rPr lang="en-IN" sz="2400" b="0" dirty="0"/>
              <a:t>Reimers, N., and </a:t>
            </a:r>
            <a:r>
              <a:rPr lang="en-IN" sz="2400" b="0" dirty="0" err="1"/>
              <a:t>Gurevych</a:t>
            </a:r>
            <a:r>
              <a:rPr lang="en-IN" sz="2400" b="0" dirty="0"/>
              <a:t>, I. (2019). “Sentence-BERT: Sentence Embeddings using Siamese BERT-Networks.” EMNLP-IJCNLP 2019, pp. 3982–3992.</a:t>
            </a:r>
          </a:p>
          <a:p>
            <a:r>
              <a:rPr lang="en-IN" sz="2400" b="0" dirty="0"/>
              <a:t>Johnson, J., </a:t>
            </a:r>
            <a:r>
              <a:rPr lang="en-IN" sz="2400" b="0" dirty="0" err="1"/>
              <a:t>Douze</a:t>
            </a:r>
            <a:r>
              <a:rPr lang="en-IN" sz="2400" b="0" dirty="0"/>
              <a:t>, M., and Jégou, H. (2017). “Billion-scale Similarity Search with GPUs.”</a:t>
            </a:r>
          </a:p>
          <a:p>
            <a:r>
              <a:rPr lang="en-IN" sz="2400" b="0" dirty="0"/>
              <a:t>Es, S., James, J., Espinosa Anke, L., and </a:t>
            </a:r>
            <a:r>
              <a:rPr lang="en-IN" sz="2400" b="0" dirty="0" err="1"/>
              <a:t>Schockaert</a:t>
            </a:r>
            <a:r>
              <a:rPr lang="en-IN" sz="2400" b="0" dirty="0"/>
              <a:t>, S. (2024). “RAGAs: Automated Evaluation of Retrieval Augmented Generation.” EACL 2024, pp. 150–158.</a:t>
            </a:r>
          </a:p>
          <a:p>
            <a:r>
              <a:rPr lang="en-IN" sz="2400" b="0" dirty="0"/>
              <a:t>Wang, W., Wei, F., Dong, L., Bao, H., Yang, N., and Zhou, M. (2020). “</a:t>
            </a:r>
            <a:r>
              <a:rPr lang="en-IN" sz="2400" b="0" dirty="0" err="1"/>
              <a:t>MiniLM</a:t>
            </a:r>
            <a:r>
              <a:rPr lang="en-IN" sz="2400" b="0" dirty="0"/>
              <a:t>: Deep Self-Attention Distillation for Task-Agnostic Compression of Pre-Trained Transformers.” </a:t>
            </a:r>
            <a:r>
              <a:rPr lang="en-IN" sz="2400" b="0" dirty="0" err="1"/>
              <a:t>NeurIPS</a:t>
            </a:r>
            <a:r>
              <a:rPr lang="en-IN" sz="2400" b="0" dirty="0"/>
              <a:t> 2020.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6391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812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Sammangi Gopi Chand</cp:lastModifiedBy>
  <cp:revision>38</cp:revision>
  <dcterms:created xsi:type="dcterms:W3CDTF">2024-05-13T10:33:11Z</dcterms:created>
  <dcterms:modified xsi:type="dcterms:W3CDTF">2026-10-12T06:12:32Z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